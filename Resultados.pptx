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Merriweather"/>
      <p:regular r:id="rId201314"/>
    </p:embeddedFont>
    <p:embeddedFont>
      <p:font typeface="Merriweather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824261"/>
            <a:ext cx="4635252" cy="964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Motor de Análisis de Sentimiento y Trading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968874" y="3024485"/>
            <a:ext cx="469553" cy="289917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</p:sp>
      <p:sp>
        <p:nvSpPr>
          <p:cNvPr id="5" name="Text 2"/>
          <p:cNvSpPr/>
          <p:nvPr/>
        </p:nvSpPr>
        <p:spPr>
          <a:xfrm>
            <a:off x="4061371" y="3070696"/>
            <a:ext cx="74175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MVP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515520" y="3019723"/>
            <a:ext cx="819224" cy="299442"/>
          </a:xfrm>
          <a:prstGeom prst="roundRect">
            <a:avLst>
              <a:gd name="adj" fmla="val 17310"/>
            </a:avLst>
          </a:prstGeom>
          <a:noFill/>
          <a:ln w="4763">
            <a:solidFill>
              <a:srgbClr val="609D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12779" y="3070696"/>
            <a:ext cx="1081906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CRISP-DM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11837" y="3019723"/>
            <a:ext cx="2301776" cy="299442"/>
          </a:xfrm>
          <a:prstGeom prst="roundRect">
            <a:avLst>
              <a:gd name="adj" fmla="val 17310"/>
            </a:avLst>
          </a:prstGeom>
          <a:noFill/>
          <a:ln w="4763">
            <a:solidFill>
              <a:srgbClr val="609D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09096" y="3070696"/>
            <a:ext cx="2564457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INGENIERÍA ANALÍTICA DE DATOS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1769" y="290736"/>
            <a:ext cx="314183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Resultados Obtenidos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791769" y="718989"/>
            <a:ext cx="4989463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12.944 registros reales</a:t>
            </a:r>
            <a:pPr algn="l" indent="0" marL="0">
              <a:lnSpc>
                <a:spcPct val="111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limpios distribuidos en 5 fuentes heterogéneas integradas en un único pipeline analítico.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791769" y="1126331"/>
            <a:ext cx="4989463" cy="34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9.326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5638651" y="1572369"/>
            <a:ext cx="129562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Precios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91769" y="1776040"/>
            <a:ext cx="4989463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Yahoo Finance — AAPL, GOOGL, MSFT, TSLA, AMZN, META, NVDA, JPM, BTC-USD, ETH-USD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791769" y="2105695"/>
            <a:ext cx="4989463" cy="34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3.070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5638651" y="2551733"/>
            <a:ext cx="129562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Indicadores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91769" y="2755404"/>
            <a:ext cx="4989463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FRED Macro desde 1947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791769" y="3085058"/>
            <a:ext cx="4989463" cy="34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251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5638651" y="3531096"/>
            <a:ext cx="129562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Fear &amp; Greed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91769" y="3734767"/>
            <a:ext cx="4989463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CNN Fear &amp; Greed Index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791769" y="4064422"/>
            <a:ext cx="4989463" cy="34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297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5638651" y="4510460"/>
            <a:ext cx="129562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Textos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91769" y="4714131"/>
            <a:ext cx="4989463" cy="13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96 noticias RSS + 201 posts Reddit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864" y="381298"/>
            <a:ext cx="5715819" cy="429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Muestra de Resultados FinBERT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864" y="1404491"/>
            <a:ext cx="5201171" cy="29473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1958" y="1116509"/>
            <a:ext cx="2430735" cy="21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Noticia — MarketWatch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1958" y="1453530"/>
            <a:ext cx="2645941" cy="83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"Duolingo started at buy with $222 price target"</a:t>
            </a:r>
            <a:endParaRPr lang="en-US" sz="10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finbert_etiqueta: </a:t>
            </a:r>
            <a:pPr algn="l"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NEUTRAL</a:t>
            </a:r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· score_compuesto: </a:t>
            </a:r>
            <a:pPr algn="l"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0.0412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21958" y="2406923"/>
            <a:ext cx="2174602" cy="21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Reddit — r/Stocks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1958" y="2743944"/>
            <a:ext cx="2645941" cy="83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"Rate My Portfolio — Quarterly Thread"</a:t>
            </a:r>
            <a:endParaRPr lang="en-US" sz="10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votos: 18 · feat_engagement: 79 · finbert_etiqueta: </a:t>
            </a:r>
            <a:pPr algn="l"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NEUTRAL</a:t>
            </a:r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· score_compuesto: </a:t>
            </a:r>
            <a:pPr algn="l"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0.0044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21958" y="3712592"/>
            <a:ext cx="2645941" cy="912019"/>
          </a:xfrm>
          <a:prstGeom prst="roundRect">
            <a:avLst>
              <a:gd name="adj" fmla="val 6327"/>
            </a:avLst>
          </a:prstGeom>
          <a:solidFill>
            <a:srgbClr val="02234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326" y="3911650"/>
            <a:ext cx="171673" cy="137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68368" y="3856955"/>
            <a:ext cx="2062162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Distribución del corpus: mayoría </a:t>
            </a:r>
            <a:pPr algn="l"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NEUTRAL</a:t>
            </a:r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minoría </a:t>
            </a:r>
            <a:pPr algn="l"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POSITIVE</a:t>
            </a:r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y </a:t>
            </a:r>
            <a:pPr algn="l"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NEGATIVE</a:t>
            </a:r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9938" y="306512"/>
            <a:ext cx="3625676" cy="338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Flujo de Automatización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938" y="797942"/>
            <a:ext cx="6553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9938" y="4541341"/>
            <a:ext cx="6804050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Pipeline end-to-end completamente automatizado: desde la ingesta de datos en tiempo real hasta la visualización interactiva, pasando por ETL, NLP con FinBERT y almacenamiento dual DuckDB + MongoDB.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164" y="405780"/>
            <a:ext cx="5623322" cy="451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Esquema NoSQL — MongoDB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6164" y="1196653"/>
            <a:ext cx="356443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Estructura de Documento (Noticias)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6164" y="1575048"/>
            <a:ext cx="3889400" cy="2755478"/>
          </a:xfrm>
          <a:prstGeom prst="roundRect">
            <a:avLst>
              <a:gd name="adj" fmla="val 2204"/>
            </a:avLst>
          </a:prstGeom>
          <a:solidFill>
            <a:srgbClr val="162227"/>
          </a:solidFill>
          <a:ln/>
        </p:spPr>
      </p:sp>
      <p:sp>
        <p:nvSpPr>
          <p:cNvPr id="5" name="Shape 3"/>
          <p:cNvSpPr/>
          <p:nvPr/>
        </p:nvSpPr>
        <p:spPr>
          <a:xfrm>
            <a:off x="498946" y="1575048"/>
            <a:ext cx="3903836" cy="2755478"/>
          </a:xfrm>
          <a:prstGeom prst="roundRect">
            <a:avLst>
              <a:gd name="adj" fmla="val 787"/>
            </a:avLst>
          </a:prstGeom>
          <a:solidFill>
            <a:srgbClr val="162227"/>
          </a:solidFill>
          <a:ln/>
        </p:spPr>
      </p:sp>
      <p:sp>
        <p:nvSpPr>
          <p:cNvPr id="6" name="Text 4"/>
          <p:cNvSpPr/>
          <p:nvPr/>
        </p:nvSpPr>
        <p:spPr>
          <a:xfrm>
            <a:off x="679698" y="1719635"/>
            <a:ext cx="3542333" cy="2466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"fecha": "2024-01-15",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"activo": "DUOL",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"titulo": "Duolingo started at buy...",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"fuente": "MarketWatch",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"finbert_etiqueta": "NEUTRAL",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"finbert_score_positivo": 0.12,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"finbert_score_negativo": 0.08,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"finbert_score_neutral": 0.80,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"finbert_score_compuesto": 0.0412</a:t>
            </a:r>
            <a:endParaRPr lang="en-US" sz="11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3198" y="1196653"/>
            <a:ext cx="245953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 Colecciones + Índices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3198" y="1575048"/>
            <a:ext cx="1876871" cy="912986"/>
          </a:xfrm>
          <a:prstGeom prst="roundRect">
            <a:avLst>
              <a:gd name="adj" fmla="val 6653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6835" y="1738685"/>
            <a:ext cx="1549598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precios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6835" y="2100188"/>
            <a:ext cx="1549598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9.326 docs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5652" y="1575048"/>
            <a:ext cx="1876946" cy="912986"/>
          </a:xfrm>
          <a:prstGeom prst="roundRect">
            <a:avLst>
              <a:gd name="adj" fmla="val 6653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9289" y="1738685"/>
            <a:ext cx="1549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noticias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29289" y="2100188"/>
            <a:ext cx="154967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96 docs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3198" y="2623617"/>
            <a:ext cx="1876871" cy="912986"/>
          </a:xfrm>
          <a:prstGeom prst="roundRect">
            <a:avLst>
              <a:gd name="adj" fmla="val 6653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6835" y="2787253"/>
            <a:ext cx="1549598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6835" y="3148757"/>
            <a:ext cx="1549598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201 docs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5652" y="2623617"/>
            <a:ext cx="1876946" cy="912986"/>
          </a:xfrm>
          <a:prstGeom prst="roundRect">
            <a:avLst>
              <a:gd name="adj" fmla="val 6653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9289" y="2787253"/>
            <a:ext cx="1549673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macro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29289" y="3148757"/>
            <a:ext cx="154967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3.070 docs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3198" y="3672185"/>
            <a:ext cx="3889400" cy="912986"/>
          </a:xfrm>
          <a:prstGeom prst="roundRect">
            <a:avLst>
              <a:gd name="adj" fmla="val 6653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6835" y="3835822"/>
            <a:ext cx="1807815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fear_greed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6835" y="4197325"/>
            <a:ext cx="3562127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251 docs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5985" y="287908"/>
            <a:ext cx="4083918" cy="263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MIGRACIÓN DUCKDB A MONGODB 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925985" y="662211"/>
            <a:ext cx="3165202" cy="1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985" y="818480"/>
            <a:ext cx="2241203" cy="236041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579" y="672554"/>
            <a:ext cx="2378125" cy="1945481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579" y="2669902"/>
            <a:ext cx="2378125" cy="165504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844579" y="4376812"/>
            <a:ext cx="2835325" cy="1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endParaRPr lang="en-US" sz="650" dirty="0"/>
          </a:p>
        </p:txBody>
      </p:sp>
      <p:sp>
        <p:nvSpPr>
          <p:cNvPr id="8" name="Text 3"/>
          <p:cNvSpPr/>
          <p:nvPr/>
        </p:nvSpPr>
        <p:spPr>
          <a:xfrm>
            <a:off x="1925985" y="4591943"/>
            <a:ext cx="2566318" cy="263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75" y="354881"/>
            <a:ext cx="3651052" cy="39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Stack Tecnológico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5175" y="965671"/>
            <a:ext cx="3953917" cy="1203796"/>
          </a:xfrm>
          <a:prstGeom prst="roundRect">
            <a:avLst>
              <a:gd name="adj" fmla="val 4457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7632" y="1098128"/>
            <a:ext cx="383232" cy="383232"/>
          </a:xfrm>
          <a:prstGeom prst="roundRect">
            <a:avLst>
              <a:gd name="adj" fmla="val 14911147"/>
            </a:avLst>
          </a:prstGeom>
          <a:solidFill>
            <a:srgbClr val="609D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3002" y="1203499"/>
            <a:ext cx="172417" cy="1724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7632" y="1587103"/>
            <a:ext cx="1596926" cy="19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 3.10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7632" y="1850157"/>
            <a:ext cx="368900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Núcleo del pipeline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24834" y="965671"/>
            <a:ext cx="3953991" cy="1203796"/>
          </a:xfrm>
          <a:prstGeom prst="roundRect">
            <a:avLst>
              <a:gd name="adj" fmla="val 4457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7291" y="1098128"/>
            <a:ext cx="383232" cy="383232"/>
          </a:xfrm>
          <a:prstGeom prst="roundRect">
            <a:avLst>
              <a:gd name="adj" fmla="val 14911147"/>
            </a:avLst>
          </a:prstGeom>
          <a:solidFill>
            <a:srgbClr val="609D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2661" y="1203499"/>
            <a:ext cx="172417" cy="1724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7291" y="1587103"/>
            <a:ext cx="1596926" cy="19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DuckDB + MongoDB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757291" y="1850157"/>
            <a:ext cx="368907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Almacenamiento dual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65175" y="2275210"/>
            <a:ext cx="3953917" cy="1203796"/>
          </a:xfrm>
          <a:prstGeom prst="roundRect">
            <a:avLst>
              <a:gd name="adj" fmla="val 4457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7632" y="2407667"/>
            <a:ext cx="383232" cy="383232"/>
          </a:xfrm>
          <a:prstGeom prst="roundRect">
            <a:avLst>
              <a:gd name="adj" fmla="val 14911147"/>
            </a:avLst>
          </a:prstGeom>
          <a:solidFill>
            <a:srgbClr val="609D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002" y="2513037"/>
            <a:ext cx="172417" cy="1724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7632" y="2896642"/>
            <a:ext cx="1596926" cy="19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FinBERT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97632" y="3159696"/>
            <a:ext cx="368900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NLP financiero (HuggingFace)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24834" y="2275210"/>
            <a:ext cx="3953991" cy="1203796"/>
          </a:xfrm>
          <a:prstGeom prst="roundRect">
            <a:avLst>
              <a:gd name="adj" fmla="val 4457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7291" y="2407667"/>
            <a:ext cx="383232" cy="383232"/>
          </a:xfrm>
          <a:prstGeom prst="roundRect">
            <a:avLst>
              <a:gd name="adj" fmla="val 14911147"/>
            </a:avLst>
          </a:prstGeom>
          <a:solidFill>
            <a:srgbClr val="609D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2661" y="2513037"/>
            <a:ext cx="172417" cy="1724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7291" y="2896642"/>
            <a:ext cx="1596926" cy="19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pandas + Plotly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757291" y="3159696"/>
            <a:ext cx="368907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ETL y visualización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65175" y="3584749"/>
            <a:ext cx="3953917" cy="1203796"/>
          </a:xfrm>
          <a:prstGeom prst="roundRect">
            <a:avLst>
              <a:gd name="adj" fmla="val 4457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97632" y="3717206"/>
            <a:ext cx="383232" cy="383232"/>
          </a:xfrm>
          <a:prstGeom prst="roundRect">
            <a:avLst>
              <a:gd name="adj" fmla="val 14911147"/>
            </a:avLst>
          </a:prstGeom>
          <a:solidFill>
            <a:srgbClr val="609D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002" y="3822576"/>
            <a:ext cx="172417" cy="17241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7632" y="4206180"/>
            <a:ext cx="1596926" cy="19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FastAPI + pymongo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97632" y="4469234"/>
            <a:ext cx="368900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API web y conexión MongoDB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624834" y="3584749"/>
            <a:ext cx="3953991" cy="1203796"/>
          </a:xfrm>
          <a:prstGeom prst="roundRect">
            <a:avLst>
              <a:gd name="adj" fmla="val 4457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57291" y="3717206"/>
            <a:ext cx="383232" cy="383232"/>
          </a:xfrm>
          <a:prstGeom prst="roundRect">
            <a:avLst>
              <a:gd name="adj" fmla="val 14911147"/>
            </a:avLst>
          </a:prstGeom>
          <a:solidFill>
            <a:srgbClr val="609D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62661" y="3822576"/>
            <a:ext cx="172417" cy="17241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7291" y="4206180"/>
            <a:ext cx="1665163" cy="19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yfinance + feedparser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4757291" y="4469234"/>
            <a:ext cx="368907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Ingesta de fuentes externas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864" y="396776"/>
            <a:ext cx="3892079" cy="429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Conclusiones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80864" y="1009650"/>
            <a:ext cx="309116" cy="309116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2395" y="1035434"/>
            <a:ext cx="206053" cy="257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2316" y="1056829"/>
            <a:ext cx="2800573" cy="21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CRISP-DM: Fases 1–3 completadas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2316" y="1344885"/>
            <a:ext cx="4321820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Comprensión del negocio, comprensión de datos y preparación de datos finalizadas con éxito.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0864" y="2005087"/>
            <a:ext cx="309116" cy="309116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2395" y="2030871"/>
            <a:ext cx="206053" cy="257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2316" y="2052265"/>
            <a:ext cx="2479253" cy="21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12.944 registros reales limpios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2316" y="2340322"/>
            <a:ext cx="4321820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multifuente integrado, normalizado y listo para modelado.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0864" y="3000524"/>
            <a:ext cx="309116" cy="309116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2395" y="3026308"/>
            <a:ext cx="206053" cy="257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2316" y="3047702"/>
            <a:ext cx="2939058" cy="21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FinBERT implementado y operativo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12316" y="3335759"/>
            <a:ext cx="4321820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Clasificación de sentimiento en noticias y Reddit con scores positivo, negativo y neutral.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0864" y="3995961"/>
            <a:ext cx="309116" cy="309116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2395" y="4021745"/>
            <a:ext cx="206053" cy="257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2316" y="4043139"/>
            <a:ext cx="2480518" cy="21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Base sólida para las fases 4 y 5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12316" y="4331196"/>
            <a:ext cx="4321820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Estructura NoSQL diseñada e implementada. Pipeline listo para modelado y evaluación.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2026-06-09T01:01:19Z</dcterms:created>
  <dcterms:modified xsi:type="dcterms:W3CDTF">2026-06-09T01:01:19Z</dcterms:modified>
</cp:coreProperties>
</file>